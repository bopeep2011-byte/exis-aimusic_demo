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286250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1A3622"/>
            </a:solidFill>
            <a:prstDash val="dash"/>
          </a:ln>
        </p:spPr>
      </p:sp>
      <p:sp>
        <p:nvSpPr>
          <p:cNvPr id="4" name="Text 1"/>
          <p:cNvSpPr/>
          <p:nvPr/>
        </p:nvSpPr>
        <p:spPr>
          <a:xfrm>
            <a:off x="7493794" y="628650"/>
            <a:ext cx="935831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500" spc="1" kern="0" dirty="0">
                <a:solidFill>
                  <a:srgbClr val="E6A81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CHECKPOINT-01 STATUS</a:t>
            </a:r>
            <a:endParaRPr lang="en-US" sz="500" dirty="0"/>
          </a:p>
        </p:txBody>
      </p:sp>
      <p:sp>
        <p:nvSpPr>
          <p:cNvPr id="5" name="Text 2"/>
          <p:cNvSpPr/>
          <p:nvPr/>
        </p:nvSpPr>
        <p:spPr>
          <a:xfrm>
            <a:off x="6654403" y="714375"/>
            <a:ext cx="1775222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45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100% PASS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14375" y="1057275"/>
            <a:ext cx="7715250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750" b="1" dirty="0">
                <a:solidFill>
                  <a:srgbClr val="1A36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ORIGEN TRAIL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714375" y="1765929"/>
            <a:ext cx="77152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spc="3" kern="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东亚基因超算帝国的商业崛起之路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4375" y="2712476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构建东亚人群唯一的标准化遗传参考坐标系，开启标准化生命密码黄金时代。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14375" y="4105870"/>
            <a:ext cx="1662708" cy="32325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4A3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重塑东亚基因版图</a:t>
            </a:r>
            <a:r>
              <a:rPr lang="en-US" sz="900" b="1" dirty="0">
                <a:solidFill>
                  <a:srgbClr val="2C4A3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
</a:t>
            </a:r>
            <a:r>
              <a:rPr lang="en-US" sz="750" dirty="0">
                <a:solidFill>
                  <a:srgbClr val="666666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Standardizing East Asian Life Code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27664" y="4209455"/>
            <a:ext cx="140196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PHASE 1A.1 FROZEN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027664" y="4327327"/>
            <a:ext cx="1401961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© 2026 ORIGEN TRAIL FOUNDATION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4286250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1A3622"/>
            </a:solidFill>
            <a:prstDash val="dash"/>
          </a:ln>
        </p:spPr>
      </p:sp>
      <p:sp>
        <p:nvSpPr>
          <p:cNvPr id="4" name="Text 1"/>
          <p:cNvSpPr/>
          <p:nvPr/>
        </p:nvSpPr>
        <p:spPr>
          <a:xfrm>
            <a:off x="571500" y="714375"/>
            <a:ext cx="800100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降维打击时刻：科学正统的捍卫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023342"/>
            <a:ext cx="80010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2" kern="0" dirty="0">
                <a:solidFill>
                  <a:srgbClr val="E6A81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REJECTING PSEUDOSCIENCE, EMBRACING BIOLOGICAL TRUTH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71500" y="1443038"/>
            <a:ext cx="1303734" cy="158948"/>
          </a:xfrm>
          <a:prstGeom prst="rect">
            <a:avLst/>
          </a:prstGeom>
          <a:solidFill>
            <a:srgbClr val="1A3622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443038"/>
            <a:ext cx="1303734" cy="15894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CE2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ORIGEN SCIENTIFIC PATHWAY</a:t>
            </a:r>
            <a:endParaRPr lang="en-US" sz="600" dirty="0"/>
          </a:p>
        </p:txBody>
      </p:sp>
      <p:sp>
        <p:nvSpPr>
          <p:cNvPr id="8" name="Shape 5"/>
          <p:cNvSpPr/>
          <p:nvPr/>
        </p:nvSpPr>
        <p:spPr>
          <a:xfrm>
            <a:off x="571500" y="1673423"/>
            <a:ext cx="4643438" cy="385763"/>
          </a:xfrm>
          <a:prstGeom prst="rect">
            <a:avLst/>
          </a:prstGeom>
          <a:solidFill>
            <a:srgbClr val="1A3622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1673423"/>
            <a:ext cx="28575" cy="385763"/>
          </a:xfrm>
          <a:prstGeom prst="rect">
            <a:avLst/>
          </a:prstGeom>
          <a:solidFill>
            <a:srgbClr val="1A3622"/>
          </a:solidFill>
          <a:ln/>
        </p:spPr>
      </p:sp>
      <p:sp>
        <p:nvSpPr>
          <p:cNvPr id="10" name="Text 7"/>
          <p:cNvSpPr/>
          <p:nvPr/>
        </p:nvSpPr>
        <p:spPr>
          <a:xfrm>
            <a:off x="4934545" y="1601986"/>
            <a:ext cx="208955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6A81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INPUT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678656" y="1789509"/>
            <a:ext cx="1316236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4A3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核心基因型 (Genotype)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209205"/>
            <a:ext cx="89297" cy="14287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71500" y="2512814"/>
            <a:ext cx="4643438" cy="385763"/>
          </a:xfrm>
          <a:prstGeom prst="rect">
            <a:avLst/>
          </a:prstGeom>
          <a:solidFill>
            <a:srgbClr val="1A3622">
              <a:alpha val="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571500" y="2512814"/>
            <a:ext cx="28575" cy="385763"/>
          </a:xfrm>
          <a:prstGeom prst="rect">
            <a:avLst/>
          </a:prstGeom>
          <a:solidFill>
            <a:srgbClr val="1A3622"/>
          </a:solidFill>
          <a:ln/>
        </p:spPr>
      </p:sp>
      <p:sp>
        <p:nvSpPr>
          <p:cNvPr id="15" name="Text 11"/>
          <p:cNvSpPr/>
          <p:nvPr/>
        </p:nvSpPr>
        <p:spPr>
          <a:xfrm>
            <a:off x="4823817" y="2441377"/>
            <a:ext cx="31968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6A81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PROCESS</a:t>
            </a:r>
            <a:endParaRPr lang="en-US" sz="500" dirty="0"/>
          </a:p>
        </p:txBody>
      </p:sp>
      <p:sp>
        <p:nvSpPr>
          <p:cNvPr id="16" name="Text 12"/>
          <p:cNvSpPr/>
          <p:nvPr/>
        </p:nvSpPr>
        <p:spPr>
          <a:xfrm>
            <a:off x="678656" y="2628900"/>
            <a:ext cx="1841302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4A3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人群参考面板 (Reference Panel)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048595"/>
            <a:ext cx="89297" cy="14287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71500" y="3352205"/>
            <a:ext cx="4643438" cy="385763"/>
          </a:xfrm>
          <a:prstGeom prst="rect">
            <a:avLst/>
          </a:prstGeom>
          <a:solidFill>
            <a:srgbClr val="1A3622">
              <a:alpha val="5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571500" y="3352205"/>
            <a:ext cx="28575" cy="385763"/>
          </a:xfrm>
          <a:prstGeom prst="rect">
            <a:avLst/>
          </a:prstGeom>
          <a:solidFill>
            <a:srgbClr val="1A3622"/>
          </a:solidFill>
          <a:ln/>
        </p:spPr>
      </p:sp>
      <p:sp>
        <p:nvSpPr>
          <p:cNvPr id="20" name="Text 15"/>
          <p:cNvSpPr/>
          <p:nvPr/>
        </p:nvSpPr>
        <p:spPr>
          <a:xfrm>
            <a:off x="4904184" y="3280767"/>
            <a:ext cx="239316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6A81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</a:t>
            </a:r>
            <a:endParaRPr lang="en-US" sz="500" dirty="0"/>
          </a:p>
        </p:txBody>
      </p:sp>
      <p:sp>
        <p:nvSpPr>
          <p:cNvPr id="21" name="Text 16"/>
          <p:cNvSpPr/>
          <p:nvPr/>
        </p:nvSpPr>
        <p:spPr>
          <a:xfrm>
            <a:off x="678656" y="3468291"/>
            <a:ext cx="1434108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4A3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群体结构模型 &amp; 亲缘图谱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887986"/>
            <a:ext cx="89297" cy="142875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71500" y="4191595"/>
            <a:ext cx="4643438" cy="385763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24" name="Shape 18"/>
          <p:cNvSpPr/>
          <p:nvPr/>
        </p:nvSpPr>
        <p:spPr>
          <a:xfrm>
            <a:off x="571500" y="4191595"/>
            <a:ext cx="28575" cy="385763"/>
          </a:xfrm>
          <a:prstGeom prst="rect">
            <a:avLst/>
          </a:prstGeom>
          <a:solidFill>
            <a:srgbClr val="1A3622"/>
          </a:solidFill>
          <a:ln/>
        </p:spPr>
      </p:sp>
      <p:sp>
        <p:nvSpPr>
          <p:cNvPr id="25" name="Text 19"/>
          <p:cNvSpPr/>
          <p:nvPr/>
        </p:nvSpPr>
        <p:spPr>
          <a:xfrm>
            <a:off x="4864894" y="4120158"/>
            <a:ext cx="278606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OUTPUT</a:t>
            </a:r>
            <a:endParaRPr lang="en-US" sz="500" dirty="0"/>
          </a:p>
        </p:txBody>
      </p:sp>
      <p:sp>
        <p:nvSpPr>
          <p:cNvPr id="26" name="Text 20"/>
          <p:cNvSpPr/>
          <p:nvPr/>
        </p:nvSpPr>
        <p:spPr>
          <a:xfrm>
            <a:off x="678656" y="4307681"/>
            <a:ext cx="115728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司法级遗传导航地图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657850" y="1585913"/>
            <a:ext cx="29146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36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基因型即</a:t>
            </a:r>
            <a:r>
              <a:rPr lang="en-US" sz="2450" b="1" dirty="0">
                <a:solidFill>
                  <a:srgbClr val="1A36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dirty="0">
                <a:solidFill>
                  <a:srgbClr val="E6A8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绝对真理</a:t>
            </a:r>
            <a:endParaRPr lang="en-US" sz="2450" dirty="0"/>
          </a:p>
        </p:txBody>
      </p:sp>
      <p:sp>
        <p:nvSpPr>
          <p:cNvPr id="28" name="Text 22"/>
          <p:cNvSpPr/>
          <p:nvPr/>
        </p:nvSpPr>
        <p:spPr>
          <a:xfrm>
            <a:off x="5657850" y="2623152"/>
            <a:ext cx="29146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我们构建全球首个“内存驱动遗传计算系统”，拒绝 AI 视觉预测等“玄学”分类器，纠正行业伪科学乱象，提供无可辩驳的生物学事实。</a:t>
            </a:r>
            <a:endParaRPr lang="en-US" sz="9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850" y="3538556"/>
            <a:ext cx="100013" cy="10001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757863" y="3533198"/>
            <a:ext cx="62507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商业背书保障</a:t>
            </a:r>
            <a:endParaRPr lang="en-US" sz="700" dirty="0"/>
          </a:p>
        </p:txBody>
      </p:sp>
      <p:sp>
        <p:nvSpPr>
          <p:cNvPr id="31" name="Text 24"/>
          <p:cNvSpPr/>
          <p:nvPr/>
        </p:nvSpPr>
        <p:spPr>
          <a:xfrm>
            <a:off x="5657850" y="3733223"/>
            <a:ext cx="29146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为商业落地、司法溯源及精准医疗提供最硬核的底层背书。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4286250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1A3622"/>
            </a:solidFill>
            <a:prstDash val="dash"/>
          </a:ln>
        </p:spPr>
      </p:sp>
      <p:sp>
        <p:nvSpPr>
          <p:cNvPr id="4" name="Text 1"/>
          <p:cNvSpPr/>
          <p:nvPr/>
        </p:nvSpPr>
        <p:spPr>
          <a:xfrm>
            <a:off x="571500" y="714375"/>
            <a:ext cx="800100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三维王牌资产：三层递进式参考面板架构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023342"/>
            <a:ext cx="80010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2" kern="0" dirty="0">
                <a:solidFill>
                  <a:srgbClr val="E6A81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REDEFINING RESOLUTION FROM GLOBAL TO MICRO-SUBPOPULATIONS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71500" y="1514475"/>
            <a:ext cx="2524116" cy="2857500"/>
          </a:xfrm>
          <a:prstGeom prst="rect">
            <a:avLst/>
          </a:prstGeom>
          <a:solidFill>
            <a:srgbClr val="1A3622">
              <a:alpha val="2000"/>
            </a:srgbClr>
          </a:solidFill>
          <a:ln w="18288">
            <a:solidFill>
              <a:srgbClr val="1A3622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2308631" y="1585913"/>
            <a:ext cx="660797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GLOBAL BACKBONE</a:t>
            </a:r>
            <a:endParaRPr lang="en-US" sz="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743075"/>
            <a:ext cx="257175" cy="257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0094" y="2173486"/>
            <a:ext cx="2147897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RP-A</a:t>
            </a:r>
            <a:r>
              <a:rPr lang="en-US" sz="11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
</a:t>
            </a:r>
            <a:r>
              <a:rPr lang="en-US" sz="11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全球骨干面板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50094" y="2657810"/>
            <a:ext cx="21478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俯瞰全球的星际导航，进行大尺度祖源定位，回答“你在世界的哪一个角落”。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50094" y="3143585"/>
            <a:ext cx="2147897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FOCUS: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750094" y="3281102"/>
            <a:ext cx="214789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全球大尺度遗传漂移定位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3290897" y="1514475"/>
            <a:ext cx="2533659" cy="2857500"/>
          </a:xfrm>
          <a:prstGeom prst="rect">
            <a:avLst/>
          </a:prstGeom>
          <a:solidFill>
            <a:srgbClr val="E6A817"/>
          </a:solidFill>
          <a:ln w="18288">
            <a:solidFill>
              <a:srgbClr val="1A362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66717" y="1585913"/>
            <a:ext cx="541139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BUSINESS CORE</a:t>
            </a:r>
            <a:endParaRPr lang="en-US" sz="500" dirty="0"/>
          </a:p>
        </p:txBody>
      </p:sp>
      <p:sp>
        <p:nvSpPr>
          <p:cNvPr id="15" name="Shape 11"/>
          <p:cNvSpPr/>
          <p:nvPr/>
        </p:nvSpPr>
        <p:spPr>
          <a:xfrm>
            <a:off x="3479006" y="1728788"/>
            <a:ext cx="657225" cy="171450"/>
          </a:xfrm>
          <a:prstGeom prst="rect">
            <a:avLst/>
          </a:prstGeom>
          <a:solidFill>
            <a:srgbClr val="1A3622"/>
          </a:solidFill>
          <a:ln/>
        </p:spPr>
      </p:sp>
      <p:sp>
        <p:nvSpPr>
          <p:cNvPr id="16" name="Text 12"/>
          <p:cNvSpPr/>
          <p:nvPr/>
        </p:nvSpPr>
        <p:spPr>
          <a:xfrm>
            <a:off x="3479006" y="1728788"/>
            <a:ext cx="657225" cy="171450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6A81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核心商业资产</a:t>
            </a:r>
            <a:endParaRPr lang="en-US" sz="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006" y="2021681"/>
            <a:ext cx="257175" cy="2571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79006" y="2452092"/>
            <a:ext cx="2157413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RP-B</a:t>
            </a:r>
            <a:r>
              <a:rPr lang="en-US" sz="11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
</a:t>
            </a:r>
            <a:r>
              <a:rPr lang="en-US" sz="11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东亚高分辨率面板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479006" y="2936416"/>
            <a:ext cx="21574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极致细分华北/华南汉族、藏族、韩族等十余个核心亚群。这是我们最具商业杀伤力的垄断级资产！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3479006" y="3593641"/>
            <a:ext cx="2157413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VALUE:</a:t>
            </a:r>
            <a:endParaRPr lang="en-US" sz="600" dirty="0"/>
          </a:p>
        </p:txBody>
      </p:sp>
      <p:sp>
        <p:nvSpPr>
          <p:cNvPr id="21" name="Text 16"/>
          <p:cNvSpPr/>
          <p:nvPr/>
        </p:nvSpPr>
        <p:spPr>
          <a:xfrm>
            <a:off x="3479006" y="3731158"/>
            <a:ext cx="215741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实现东亚内部微量遗传漂移识别</a:t>
            </a:r>
            <a:endParaRPr lang="en-US" sz="700" dirty="0"/>
          </a:p>
        </p:txBody>
      </p:sp>
      <p:sp>
        <p:nvSpPr>
          <p:cNvPr id="22" name="Shape 17"/>
          <p:cNvSpPr/>
          <p:nvPr/>
        </p:nvSpPr>
        <p:spPr>
          <a:xfrm>
            <a:off x="6029325" y="1514475"/>
            <a:ext cx="2543175" cy="2857500"/>
          </a:xfrm>
          <a:prstGeom prst="rect">
            <a:avLst/>
          </a:prstGeom>
          <a:solidFill>
            <a:srgbClr val="1A3622">
              <a:alpha val="2000"/>
            </a:srgbClr>
          </a:solidFill>
          <a:ln w="18288">
            <a:solidFill>
              <a:srgbClr val="1A3622"/>
            </a:solidFill>
            <a:prstDash val="dash"/>
          </a:ln>
        </p:spPr>
      </p:sp>
      <p:sp>
        <p:nvSpPr>
          <p:cNvPr id="23" name="Text 18"/>
          <p:cNvSpPr/>
          <p:nvPr/>
        </p:nvSpPr>
        <p:spPr>
          <a:xfrm>
            <a:off x="7804519" y="1585913"/>
            <a:ext cx="660797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HISTORICAL PROXY</a:t>
            </a:r>
            <a:endParaRPr lang="en-US" sz="5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950" y="1743075"/>
            <a:ext cx="192881" cy="2571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26950" y="2173486"/>
            <a:ext cx="2166928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RP-C</a:t>
            </a:r>
            <a:r>
              <a:rPr lang="en-US" sz="11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
</a:t>
            </a:r>
            <a:r>
              <a:rPr lang="en-US" sz="11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时空穿梭面板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226950" y="2657810"/>
            <a:ext cx="21669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链接史前文明，引入仰韶、龙山等古基因组分，让用户真切感受到史前文明脉搏。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6226950" y="3143585"/>
            <a:ext cx="2166928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CONCEPT:</a:t>
            </a:r>
            <a:endParaRPr lang="en-US" sz="600" dirty="0"/>
          </a:p>
        </p:txBody>
      </p:sp>
      <p:sp>
        <p:nvSpPr>
          <p:cNvPr id="28" name="Text 22"/>
          <p:cNvSpPr/>
          <p:nvPr/>
        </p:nvSpPr>
        <p:spPr>
          <a:xfrm>
            <a:off x="6226950" y="3281102"/>
            <a:ext cx="216692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古基因关联组分代理模型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4286250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1A3622"/>
            </a:solidFill>
            <a:prstDash val="dash"/>
          </a:ln>
        </p:spPr>
      </p:sp>
      <p:sp>
        <p:nvSpPr>
          <p:cNvPr id="4" name="Text 1"/>
          <p:cNvSpPr/>
          <p:nvPr/>
        </p:nvSpPr>
        <p:spPr>
          <a:xfrm>
            <a:off x="571500" y="714375"/>
            <a:ext cx="800100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硬核基建：零物理误差的“生命智能超算帝国”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023342"/>
            <a:ext cx="80010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2" kern="0" dirty="0">
                <a:solidFill>
                  <a:srgbClr val="E6A81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INDUSTRIAL-GRADE INFRASTRUCTURE FOR GENOMIC SUPREMACY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71500" y="1443038"/>
            <a:ext cx="3571875" cy="3214688"/>
          </a:xfrm>
          <a:prstGeom prst="rect">
            <a:avLst/>
          </a:prstGeom>
          <a:solidFill>
            <a:srgbClr val="1A3622">
              <a:alpha val="10000"/>
            </a:srgbClr>
          </a:solidFill>
          <a:ln w="9144">
            <a:solidFill>
              <a:srgbClr val="1A362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3" y="2391370"/>
            <a:ext cx="857250" cy="857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9827" y="3391495"/>
            <a:ext cx="1775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ORIGEN HPC CLUSTER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469827" y="3591520"/>
            <a:ext cx="1775222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Memory-Driven Genetic Computing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2977158" y="1514475"/>
            <a:ext cx="1080492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6A81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COMPUTE NODE ARCHITECTURE</a:t>
            </a:r>
            <a:endParaRPr lang="en-US" sz="500" dirty="0"/>
          </a:p>
        </p:txBody>
      </p:sp>
      <p:sp>
        <p:nvSpPr>
          <p:cNvPr id="11" name="Shape 7"/>
          <p:cNvSpPr/>
          <p:nvPr/>
        </p:nvSpPr>
        <p:spPr>
          <a:xfrm>
            <a:off x="8042077" y="1443038"/>
            <a:ext cx="530423" cy="130373"/>
          </a:xfrm>
          <a:prstGeom prst="rect">
            <a:avLst/>
          </a:prstGeom>
          <a:solidFill>
            <a:srgbClr val="E6A817">
              <a:alpha val="2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8042077" y="1443038"/>
            <a:ext cx="530423" cy="13037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DEPLOYED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4672013" y="1478756"/>
            <a:ext cx="3900488" cy="83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HARDWARE LAYER</a:t>
            </a:r>
            <a:endParaRPr lang="en-US" sz="500" dirty="0"/>
          </a:p>
        </p:txBody>
      </p:sp>
      <p:sp>
        <p:nvSpPr>
          <p:cNvPr id="14" name="Text 10"/>
          <p:cNvSpPr/>
          <p:nvPr/>
        </p:nvSpPr>
        <p:spPr>
          <a:xfrm>
            <a:off x="4672013" y="1598414"/>
            <a:ext cx="390048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ECC 纠错内存 &amp; RAID1 阵列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72013" y="1902023"/>
            <a:ext cx="39004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拒绝 DDR5 的“静默比特翻转”，确保数万亿次遗传计算的绝对零误差。双盘镜像机制保障核心资产永不丢失。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8165306" y="2459236"/>
            <a:ext cx="407194" cy="130373"/>
          </a:xfrm>
          <a:prstGeom prst="rect">
            <a:avLst/>
          </a:prstGeom>
          <a:solidFill>
            <a:srgbClr val="E6A817">
              <a:alpha val="2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8165306" y="2459236"/>
            <a:ext cx="407194" cy="13037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ACTIVE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4672013" y="2494955"/>
            <a:ext cx="3900488" cy="83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ORCHESTRATION LAYER</a:t>
            </a:r>
            <a:endParaRPr lang="en-US" sz="500" dirty="0"/>
          </a:p>
        </p:txBody>
      </p:sp>
      <p:sp>
        <p:nvSpPr>
          <p:cNvPr id="19" name="Text 15"/>
          <p:cNvSpPr/>
          <p:nvPr/>
        </p:nvSpPr>
        <p:spPr>
          <a:xfrm>
            <a:off x="4672013" y="2614613"/>
            <a:ext cx="390048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Nextflow 工业级流水线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672013" y="2918222"/>
            <a:ext cx="39004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告别手写脚本，实现 22 条染色体的一键式全自动调度与算力负载均衡，确保资产版本“零漂移”。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8029575" y="3475434"/>
            <a:ext cx="542925" cy="130373"/>
          </a:xfrm>
          <a:prstGeom prst="rect">
            <a:avLst/>
          </a:prstGeom>
          <a:solidFill>
            <a:srgbClr val="E6A817">
              <a:alpha val="2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8029575" y="3475434"/>
            <a:ext cx="542925" cy="13037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ENFORCED</a:t>
            </a:r>
            <a:endParaRPr lang="en-US" sz="600" dirty="0"/>
          </a:p>
        </p:txBody>
      </p:sp>
      <p:sp>
        <p:nvSpPr>
          <p:cNvPr id="23" name="Text 19"/>
          <p:cNvSpPr/>
          <p:nvPr/>
        </p:nvSpPr>
        <p:spPr>
          <a:xfrm>
            <a:off x="4672013" y="3511153"/>
            <a:ext cx="3900488" cy="83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SECURITY LAYER</a:t>
            </a:r>
            <a:endParaRPr lang="en-US" sz="500" dirty="0"/>
          </a:p>
        </p:txBody>
      </p:sp>
      <p:sp>
        <p:nvSpPr>
          <p:cNvPr id="24" name="Text 20"/>
          <p:cNvSpPr/>
          <p:nvPr/>
        </p:nvSpPr>
        <p:spPr>
          <a:xfrm>
            <a:off x="4672013" y="3630811"/>
            <a:ext cx="390048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铁血安全门禁体系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672013" y="3934420"/>
            <a:ext cx="39004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100% 物理隔离，核心代码与执行脚本“零落地”。自动化强制卡点，任何不达标操作瞬间拦截。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2987483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1A3622"/>
            </a:solidFill>
            <a:prstDash val="dash"/>
          </a:ln>
        </p:spPr>
      </p:sp>
      <p:sp>
        <p:nvSpPr>
          <p:cNvPr id="4" name="Text 1"/>
          <p:cNvSpPr/>
          <p:nvPr/>
        </p:nvSpPr>
        <p:spPr>
          <a:xfrm>
            <a:off x="571500" y="714375"/>
            <a:ext cx="800100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总攻时间表：从技术地基到商业变现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023342"/>
            <a:ext cx="80010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2" kern="0" dirty="0">
                <a:solidFill>
                  <a:srgbClr val="E6A81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STRATEGIC ROADMAP FROM PHASE 1 TO PHASE 4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71500" y="1443038"/>
            <a:ext cx="3914775" cy="907954"/>
          </a:xfrm>
          <a:prstGeom prst="rect">
            <a:avLst/>
          </a:prstGeom>
          <a:solidFill>
            <a:srgbClr val="E6A817"/>
          </a:solidFill>
          <a:ln w="18288">
            <a:solidFill>
              <a:srgbClr val="1A36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18309" y="1485900"/>
            <a:ext cx="810816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CURRENT STATUS: FROZEN</a:t>
            </a:r>
            <a:endParaRPr lang="en-US" sz="450" dirty="0"/>
          </a:p>
        </p:txBody>
      </p:sp>
      <p:sp>
        <p:nvSpPr>
          <p:cNvPr id="8" name="Text 5"/>
          <p:cNvSpPr/>
          <p:nvPr/>
        </p:nvSpPr>
        <p:spPr>
          <a:xfrm>
            <a:off x="657225" y="1528763"/>
            <a:ext cx="37433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7225" y="1803797"/>
            <a:ext cx="37433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A3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基因面板构建 (v0.1)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7225" y="2053828"/>
            <a:ext cx="37433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铸就地基，发布工程规范书与资产清单 panel_manifest.json，确立行业标准。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657725" y="1443038"/>
            <a:ext cx="3914775" cy="907954"/>
          </a:xfrm>
          <a:prstGeom prst="rect">
            <a:avLst/>
          </a:prstGeom>
          <a:solidFill>
            <a:srgbClr val="1A3622">
              <a:alpha val="3000"/>
            </a:srgbClr>
          </a:solidFill>
          <a:ln w="18288">
            <a:solidFill>
              <a:srgbClr val="1A3622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7990284" y="1485900"/>
            <a:ext cx="525066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NEXT MILESTONE</a:t>
            </a:r>
            <a:endParaRPr lang="en-US" sz="450" dirty="0"/>
          </a:p>
        </p:txBody>
      </p:sp>
      <p:sp>
        <p:nvSpPr>
          <p:cNvPr id="13" name="Text 10"/>
          <p:cNvSpPr/>
          <p:nvPr/>
        </p:nvSpPr>
        <p:spPr>
          <a:xfrm>
            <a:off x="4743450" y="1528763"/>
            <a:ext cx="37433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43450" y="1803797"/>
            <a:ext cx="37433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A3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亲缘图谱与误差控制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43450" y="2053828"/>
            <a:ext cx="37433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深度解析复杂家系，建立群体结构模型，确立在亲缘关系领域的科学权威。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71500" y="2451004"/>
            <a:ext cx="3914775" cy="907954"/>
          </a:xfrm>
          <a:prstGeom prst="rect">
            <a:avLst/>
          </a:prstGeom>
          <a:solidFill>
            <a:srgbClr val="1A3622">
              <a:alpha val="3000"/>
            </a:srgbClr>
          </a:solidFill>
          <a:ln w="18288">
            <a:solidFill>
              <a:srgbClr val="1A3622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3743325" y="2493866"/>
            <a:ext cx="685800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COMMERCIAL LAUNCH</a:t>
            </a:r>
            <a:endParaRPr lang="en-US" sz="450" dirty="0"/>
          </a:p>
        </p:txBody>
      </p:sp>
      <p:sp>
        <p:nvSpPr>
          <p:cNvPr id="18" name="Text 15"/>
          <p:cNvSpPr/>
          <p:nvPr/>
        </p:nvSpPr>
        <p:spPr>
          <a:xfrm>
            <a:off x="657225" y="2536729"/>
            <a:ext cx="37433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PHASE 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7225" y="2811763"/>
            <a:ext cx="37433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A3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商业级 API + 客户端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7225" y="3061795"/>
            <a:ext cx="37433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赋能全球商业生态，实现流量与资产的快速变现，开启 API 授权模式。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657725" y="2451004"/>
            <a:ext cx="3914775" cy="907954"/>
          </a:xfrm>
          <a:prstGeom prst="rect">
            <a:avLst/>
          </a:prstGeom>
          <a:solidFill>
            <a:srgbClr val="1A3622">
              <a:alpha val="3000"/>
            </a:srgbClr>
          </a:solidFill>
          <a:ln w="18288">
            <a:solidFill>
              <a:srgbClr val="1A3622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7988498" y="2493866"/>
            <a:ext cx="526852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ULTIMATE VISION</a:t>
            </a:r>
            <a:endParaRPr lang="en-US" sz="450" dirty="0"/>
          </a:p>
        </p:txBody>
      </p:sp>
      <p:sp>
        <p:nvSpPr>
          <p:cNvPr id="23" name="Text 20"/>
          <p:cNvSpPr/>
          <p:nvPr/>
        </p:nvSpPr>
        <p:spPr>
          <a:xfrm>
            <a:off x="4743450" y="2536729"/>
            <a:ext cx="37433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PHASE 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43450" y="2811763"/>
            <a:ext cx="374332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A3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多模态先验融合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43450" y="3061795"/>
            <a:ext cx="37433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引入多维数据修正，最终完成东亚生命之图的宏伟拼图，实现全维度生命数字化。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286250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1A3622"/>
            </a:solidFill>
            <a:prstDash val="dash"/>
          </a:ln>
        </p:spPr>
      </p:sp>
      <p:sp>
        <p:nvSpPr>
          <p:cNvPr id="4" name="Text 1"/>
          <p:cNvSpPr/>
          <p:nvPr/>
        </p:nvSpPr>
        <p:spPr>
          <a:xfrm>
            <a:off x="7191970" y="714375"/>
            <a:ext cx="123765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500" spc="1" kern="0" dirty="0">
                <a:solidFill>
                  <a:srgbClr val="E6A81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PROJECT STATUS: FROZEN</a:t>
            </a:r>
            <a:r>
              <a:rPr lang="en-US" sz="500" spc="1" kern="0" dirty="0">
                <a:solidFill>
                  <a:srgbClr val="E6A81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
</a:t>
            </a:r>
            <a:r>
              <a:rPr lang="en-US" sz="500" spc="1" kern="0" dirty="0">
                <a:solidFill>
                  <a:srgbClr val="E6A817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NEXT PHASE: TOTAL OFFENSIVE</a:t>
            </a:r>
            <a:endParaRPr lang="en-US" sz="500" dirty="0"/>
          </a:p>
        </p:txBody>
      </p:sp>
      <p:sp>
        <p:nvSpPr>
          <p:cNvPr id="5" name="Text 2"/>
          <p:cNvSpPr/>
          <p:nvPr/>
        </p:nvSpPr>
        <p:spPr>
          <a:xfrm>
            <a:off x="3141464" y="1004255"/>
            <a:ext cx="2861072" cy="53756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spc="6" kern="0" dirty="0">
                <a:solidFill>
                  <a:srgbClr val="1A36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ORIGEN TRAIL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3429000" y="1827572"/>
            <a:ext cx="22860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A36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破局者已至</a:t>
            </a:r>
            <a:r>
              <a:rPr lang="en-US" sz="3300" b="1" dirty="0">
                <a:solidFill>
                  <a:srgbClr val="1A36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3300" b="1" dirty="0">
                <a:solidFill>
                  <a:srgbClr val="E6A81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未来已来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2343150" y="3047702"/>
            <a:ext cx="44577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用硬核硬件确保科学纯净，用三层面板锁定商业版图。</a:t>
            </a:r>
            <a:r>
              <a:rPr lang="en-US" sz="12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
</a:t>
            </a:r>
            <a:r>
              <a:rPr lang="en-US" sz="1250" dirty="0">
                <a:solidFill>
                  <a:srgbClr val="2C4A34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重新定义生命的精确度，铸就东亚精准生命科学至高灯塔。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491508" y="4024945"/>
            <a:ext cx="2160984" cy="400050"/>
          </a:xfrm>
          <a:prstGeom prst="rect">
            <a:avLst/>
          </a:prstGeom>
          <a:noFill/>
          <a:ln/>
        </p:spPr>
        <p:txBody>
          <a:bodyPr wrap="square" lIns="340233" tIns="127508" rIns="34023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2" kern="0" dirty="0">
                <a:solidFill>
                  <a:srgbClr val="1A3622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诚邀并肩作战 · 见证历史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4375" y="4327327"/>
            <a:ext cx="3025378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© 2026 ORIGEN TRAIL FOUNDATION | STANDARDIZING EAST ASIAN LIFE CODE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2026-06-16T12:53:04Z</dcterms:created>
  <dcterms:modified xsi:type="dcterms:W3CDTF">2026-06-16T12:53:04Z</dcterms:modified>
</cp:coreProperties>
</file>